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68" r:id="rId15"/>
    <p:sldId id="271" r:id="rId16"/>
    <p:sldId id="272" r:id="rId17"/>
    <p:sldId id="273" r:id="rId18"/>
    <p:sldId id="267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5903783858070661"/>
          <c:y val="0.18819953540290224"/>
          <c:w val="0.63901666286495884"/>
          <c:h val="0.37554177854205006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RTO (seconds)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27F-489B-B194-83ADBDB4324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27F-489B-B194-83ADBDB4324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27F-489B-B194-83ADBDB4324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Restic</c:v>
                </c:pt>
                <c:pt idx="1">
                  <c:v>Duplicati</c:v>
                </c:pt>
                <c:pt idx="2">
                  <c:v>UrBackup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7.5</c:v>
                </c:pt>
                <c:pt idx="1">
                  <c:v>45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27F-489B-B194-83ADBDB432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shape val="box"/>
        <c:axId val="2094734554"/>
        <c:axId val="2094734552"/>
        <c:axId val="931650944"/>
      </c:bar3D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erAx>
        <c:axId val="93165094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</c:ser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8415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7.sv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7007769" y="2082747"/>
            <a:ext cx="2049517" cy="20495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48115"/>
            <a:ext cx="9144000" cy="764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5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ICT946 · CYBERSECURITY CAPSTONE · MIT SEMESTER 1, 2026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0" y="726948"/>
            <a:ext cx="9144000" cy="17955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800" b="1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Ransomware Simulation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&amp; Recovery Strategies for Small Businesses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94360" y="2399670"/>
            <a:ext cx="1924442" cy="576071"/>
          </a:xfrm>
          <a:prstGeom prst="roundRect">
            <a:avLst>
              <a:gd name="adj" fmla="val 2352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94359" y="2320211"/>
            <a:ext cx="1924441" cy="676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Restic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735844" y="2399669"/>
            <a:ext cx="1744716" cy="576071"/>
          </a:xfrm>
          <a:prstGeom prst="roundRect">
            <a:avLst>
              <a:gd name="adj" fmla="val 23529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735842" y="2485355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Duplicati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97602" y="2399668"/>
            <a:ext cx="1744716" cy="576071"/>
          </a:xfrm>
          <a:prstGeom prst="roundRect">
            <a:avLst>
              <a:gd name="adj" fmla="val 2352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796398" y="250309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UrBackup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38" y="3156468"/>
            <a:ext cx="6361649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905913" y="4763183"/>
            <a:ext cx="3128928" cy="4389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Assoc. Prof. John Ayoade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6B1452-9E30-2D91-45DF-6B1FBB5D448A}"/>
              </a:ext>
            </a:extLst>
          </p:cNvPr>
          <p:cNvSpPr txBox="1"/>
          <p:nvPr/>
        </p:nvSpPr>
        <p:spPr>
          <a:xfrm>
            <a:off x="185510" y="3445311"/>
            <a:ext cx="312892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</a:p>
          <a:p>
            <a:r>
              <a:rPr lang="en-US" sz="16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Ajit Subedi  Cihe241200     </a:t>
            </a:r>
          </a:p>
          <a:p>
            <a:r>
              <a:rPr lang="en-US" sz="16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Maureen Gitau  Cihe241111</a:t>
            </a:r>
          </a:p>
          <a:p>
            <a:r>
              <a:rPr lang="en-US" sz="16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Jiwan Kandel  Cihe241170   </a:t>
            </a:r>
          </a:p>
          <a:p>
            <a:r>
              <a:rPr lang="en-US" sz="16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Raju Shrestha  Cihe241127</a:t>
            </a:r>
            <a:endParaRPr 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A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92608" y="208211"/>
            <a:ext cx="2694012" cy="364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chemeClr val="tx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ABSTRACT</a:t>
            </a:r>
            <a:endParaRPr lang="en-US" sz="24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2608" y="1008678"/>
            <a:ext cx="2779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85%</a:t>
            </a: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1168" y="1673352"/>
            <a:ext cx="27797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>
                <a:solidFill>
                  <a:schemeClr val="tx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of </a:t>
            </a:r>
            <a:r>
              <a:rPr lang="en-US" sz="1400" b="1">
                <a:solidFill>
                  <a:schemeClr val="tx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ransomware</a:t>
            </a:r>
            <a:endParaRPr lang="en-US" sz="12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>
                <a:solidFill>
                  <a:schemeClr val="tx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attacks target SMBs</a:t>
            </a:r>
            <a:endParaRPr lang="en-US" sz="12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01168" y="2368296"/>
            <a:ext cx="2779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60%</a:t>
            </a: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01168" y="2935224"/>
            <a:ext cx="27797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>
                <a:solidFill>
                  <a:schemeClr val="tx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of attacked SMBs</a:t>
            </a:r>
            <a:endParaRPr lang="en-US" sz="12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>
                <a:solidFill>
                  <a:schemeClr val="tx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fail within 6 months</a:t>
            </a:r>
            <a:endParaRPr lang="en-US" sz="12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01168" y="3630168"/>
            <a:ext cx="2779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31%</a:t>
            </a: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01168" y="4197096"/>
            <a:ext cx="27797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>
                <a:solidFill>
                  <a:schemeClr val="tx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cannot restore from</a:t>
            </a:r>
            <a:endParaRPr lang="en-US" sz="12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>
                <a:solidFill>
                  <a:schemeClr val="tx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backup pay ransom</a:t>
            </a:r>
            <a:endParaRPr lang="en-US" sz="12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107802" y="30375"/>
            <a:ext cx="5578998" cy="506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D2137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What this project is about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401568" y="749808"/>
            <a:ext cx="5449824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401568" y="749808"/>
            <a:ext cx="54864" cy="6949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566160" y="80467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565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566160" y="100584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SMBs face growing ransomware threats but lack tested, affordable recovery strategies.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401568" y="1554480"/>
            <a:ext cx="5449824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401568" y="1554480"/>
            <a:ext cx="54864" cy="6949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566160" y="160934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65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Approach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566160" y="181051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Safe virtual lab (VMware, Windows 10 + Ubuntu VMs) simulates a ransomware attack using a PowerShell script no real malware.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401568" y="2359152"/>
            <a:ext cx="5449824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401568" y="2359152"/>
            <a:ext cx="54864" cy="6949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566160" y="241401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565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Tools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566160" y="2615184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Three open-source backup tools compared: </a:t>
            </a:r>
            <a:r>
              <a:rPr lang="en-US" sz="1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Restic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(CLI/snapshot), </a:t>
            </a:r>
            <a:r>
              <a:rPr lang="en-US" sz="1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Duplicati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(AES-256/GUI), </a:t>
            </a:r>
            <a:r>
              <a:rPr lang="en-US" sz="1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UrBackup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(server-client/dashboard).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401568" y="3163824"/>
            <a:ext cx="5449824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401568" y="3163824"/>
            <a:ext cx="54864" cy="6949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566160" y="321868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565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Metrics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566160" y="3419856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Recovery Time Objective (RTO), data integrity via SHA256 hashing, and 100% file recovery rate measured for each tool.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401568" y="3968496"/>
            <a:ext cx="5449824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401568" y="3968496"/>
            <a:ext cx="54864" cy="6949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566160" y="40233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565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Outcome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566160" y="422452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three tools achieved full recovery at near-zero cost  providing a replicable, evidence-based recovery framework for SMBs.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2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INTRODUCTION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-1" y="1024128"/>
            <a:ext cx="9143999" cy="674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A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(SMBs) are particularly vulnerable since attackers know they are more likely to have ineffective defences, fewer resources, and no trained IT security officers to fend off attackers.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Ransomware is no longer a large-enterprise problem, 85% of attacks now target small businesses.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>
            <a:spLocks/>
          </p:cNvSpPr>
          <p:nvPr/>
        </p:nvSpPr>
        <p:spPr>
          <a:xfrm>
            <a:off x="228600" y="1880708"/>
            <a:ext cx="4169664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76656" y="2002536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62828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The Threat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28600" y="2359152"/>
            <a:ext cx="4169664" cy="98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just">
              <a:lnSpc>
                <a:spcPct val="128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Ransomware encrypts critical files and demands payment.</a:t>
            </a:r>
          </a:p>
          <a:p>
            <a:pPr marL="171450" indent="-171450" algn="just">
              <a:lnSpc>
                <a:spcPct val="128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SMBs face average recovery costs of hundreds of thousands of dollars many never recover. 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544568" y="1880708"/>
            <a:ext cx="4370832" cy="1544929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091986" y="2002535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65C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The Gap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572000" y="2330577"/>
            <a:ext cx="4242816" cy="10185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just">
              <a:lnSpc>
                <a:spcPct val="128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92% of SMBs have backups, yet 31% still cannot restore when attacked. </a:t>
            </a:r>
          </a:p>
          <a:p>
            <a:pPr marL="171450" indent="-171450" algn="just">
              <a:lnSpc>
                <a:spcPct val="128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There is a critical gap between having a backup and knowing it works.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3547872"/>
            <a:ext cx="4215384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2" descr="Blog outlin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9184" y="3770534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" y="3794760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796B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Our Approach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182880" y="4037417"/>
            <a:ext cx="4169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just">
              <a:lnSpc>
                <a:spcPct val="128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 designed a safe, low-cost virtual lab using VMware.</a:t>
            </a:r>
          </a:p>
          <a:p>
            <a:pPr marL="171450" indent="-171450" algn="just">
              <a:lnSpc>
                <a:spcPct val="128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Windows 10 victim machine, and an Ubuntu backup server  no real malware, full isolation.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4544568" y="3554599"/>
            <a:ext cx="4370832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5157216" y="3766922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2E7D3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Our Value</a:t>
            </a:r>
            <a:endParaRPr lang="en-US" sz="12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4558283" y="3997715"/>
            <a:ext cx="4270249" cy="107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just">
              <a:lnSpc>
                <a:spcPct val="128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project gives SMBs a replicable, evidence-based framework to test backup readiness before a real attack free to implement with existing hardware.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Graphic 28" descr="Lock outline">
            <a:extLst>
              <a:ext uri="{FF2B5EF4-FFF2-40B4-BE49-F238E27FC236}">
                <a16:creationId xmlns:a16="http://schemas.microsoft.com/office/drawing/2014/main" id="{22EC3308-7864-A7E4-6D3C-7AB8AFD6AF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204" y="1967103"/>
            <a:ext cx="363474" cy="363474"/>
          </a:xfrm>
          <a:prstGeom prst="rect">
            <a:avLst/>
          </a:prstGeom>
        </p:spPr>
      </p:pic>
      <p:pic>
        <p:nvPicPr>
          <p:cNvPr id="31" name="Graphic 30" descr="Tablet with solid fill">
            <a:extLst>
              <a:ext uri="{FF2B5EF4-FFF2-40B4-BE49-F238E27FC236}">
                <a16:creationId xmlns:a16="http://schemas.microsoft.com/office/drawing/2014/main" id="{D570B099-90BF-AC60-9D39-7F4F021E92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5569" y="1950522"/>
            <a:ext cx="385861" cy="385861"/>
          </a:xfrm>
          <a:prstGeom prst="rect">
            <a:avLst/>
          </a:prstGeom>
        </p:spPr>
      </p:pic>
      <p:pic>
        <p:nvPicPr>
          <p:cNvPr id="33" name="Graphic 32" descr="Diamond with solid fill">
            <a:extLst>
              <a:ext uri="{FF2B5EF4-FFF2-40B4-BE49-F238E27FC236}">
                <a16:creationId xmlns:a16="http://schemas.microsoft.com/office/drawing/2014/main" id="{B7098ED7-18AD-5988-5350-BF4C64B184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5569" y="3752245"/>
            <a:ext cx="384049" cy="3840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2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MOTIVATION &amp; OBJECTIVES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0" y="2940831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Research Questions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6868" y="3217298"/>
            <a:ext cx="4137660" cy="56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6868" y="3328355"/>
            <a:ext cx="59436" cy="48305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5584" y="3178045"/>
            <a:ext cx="58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RQ 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9303" y="3350907"/>
            <a:ext cx="4151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0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can an SMB safely simulate a ransomware attack using low-cost virtualization to test recovery without risk?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161" y="3831336"/>
            <a:ext cx="4137660" cy="590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6868" y="3925396"/>
            <a:ext cx="59436" cy="52304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0103" y="3818051"/>
            <a:ext cx="57532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RQ 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" y="3976607"/>
            <a:ext cx="4197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0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Which backup tools </a:t>
            </a:r>
            <a:r>
              <a:rPr lang="en-US" sz="105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Restic</a:t>
            </a:r>
            <a:r>
              <a:rPr lang="en-US" sz="10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05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Duplicati</a:t>
            </a:r>
            <a:r>
              <a:rPr lang="en-US" sz="10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or </a:t>
            </a:r>
            <a:r>
              <a:rPr lang="en-US" sz="105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UrBackup</a:t>
            </a:r>
            <a:r>
              <a:rPr lang="en-US" sz="10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most effectively restores critical data after a ransomware attack?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" y="4453871"/>
            <a:ext cx="4169664" cy="57489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1440" y="4554886"/>
            <a:ext cx="54864" cy="473883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1066" y="4453871"/>
            <a:ext cx="699034" cy="2088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96B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RQ 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012" y="4662718"/>
            <a:ext cx="4137660" cy="3288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practical lessons from the simulation can improve SMB preparedness, RTO, and resilience?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91456" y="1042416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2137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Project Objectives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1545336"/>
            <a:ext cx="256032" cy="25603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248656" y="1426464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565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 virtual lab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248656" y="1664208"/>
            <a:ext cx="3895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Safe VMware environment Windows as victim + Ubuntu server, host-only network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2221992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248656" y="2103120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A1B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Configure 3 backup tools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5248656" y="2340864"/>
            <a:ext cx="3895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Restic, Duplicati, UrBackup each fully set up and verified before the attack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7176" y="2898648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248656" y="2779776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628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Execute ransomware sim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5248656" y="3017520"/>
            <a:ext cx="3895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PowerShell script renames all files with .locked extension, files inaccessible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176" y="3575304"/>
            <a:ext cx="256032" cy="25603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248656" y="3456432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Restore &amp; verify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5248656" y="3694176"/>
            <a:ext cx="3895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Recover all files from each tool; verify with SHA256 hash comparison</a:t>
            </a:r>
            <a:endParaRPr 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1"/>
          <p:cNvSpPr/>
          <p:nvPr/>
        </p:nvSpPr>
        <p:spPr>
          <a:xfrm>
            <a:off x="5248656" y="4133088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79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Compare &amp; recommend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2"/>
          <p:cNvSpPr/>
          <p:nvPr/>
        </p:nvSpPr>
        <p:spPr>
          <a:xfrm>
            <a:off x="5248656" y="4370832"/>
            <a:ext cx="3529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Measure RTO, integrity, usability  provide evidence-based SMB guidance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2" name="Graphic 41" descr="Venn diagram with solid fill">
            <a:extLst>
              <a:ext uri="{FF2B5EF4-FFF2-40B4-BE49-F238E27FC236}">
                <a16:creationId xmlns:a16="http://schemas.microsoft.com/office/drawing/2014/main" id="{5F508042-75FF-8210-63CA-7E0EE6F8FB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91456" y="4135295"/>
            <a:ext cx="384048" cy="3840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0BDF6C-31D8-7BD7-02A5-D5BC5A970770}"/>
              </a:ext>
            </a:extLst>
          </p:cNvPr>
          <p:cNvSpPr txBox="1"/>
          <p:nvPr/>
        </p:nvSpPr>
        <p:spPr>
          <a:xfrm>
            <a:off x="0" y="1291653"/>
            <a:ext cx="45720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design, implement and evaluate effective backup and recovery strategies to protect small business data from ransomware attacks.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2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LITERATURE &amp; STATE-OF-THE-ART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32734" y="5387848"/>
            <a:ext cx="9011266" cy="512064"/>
          </a:xfrm>
          <a:prstGeom prst="rect">
            <a:avLst/>
          </a:prstGeom>
          <a:solidFill>
            <a:srgbClr val="FFF8E1"/>
          </a:solidFill>
          <a:ln w="190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5387848"/>
            <a:ext cx="8089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BF360C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★  GAP IDENTIFIED: </a:t>
            </a:r>
            <a:r>
              <a:rPr lang="en-US" sz="1400">
                <a:solidFill>
                  <a:srgbClr val="5D40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prior study directly compares Restic, Duplicati &amp; UrBackup under identical ransomware conditions. This is our original contribution.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E77B1FE-7502-A3BE-E107-78C113CE0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975280"/>
              </p:ext>
            </p:extLst>
          </p:nvPr>
        </p:nvGraphicFramePr>
        <p:xfrm>
          <a:off x="0" y="898417"/>
          <a:ext cx="9144000" cy="421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841">
                <a:tc>
                  <a:txBody>
                    <a:bodyPr/>
                    <a:lstStyle/>
                    <a:p>
                      <a:r>
                        <a:t>Source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Topic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Key Findings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Relevance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802">
                <a:tc>
                  <a:txBody>
                    <a:bodyPr/>
                    <a:lstStyle/>
                    <a:p>
                      <a:r>
                        <a:t>Beaman et al.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Ransomware evolution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Advanced attack 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Need for practical recovery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802">
                <a:tc>
                  <a:txBody>
                    <a:bodyPr/>
                    <a:lstStyle/>
                    <a:p>
                      <a:r>
                        <a:t>Atetedaye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err="1"/>
                        <a:t>Defence</a:t>
                      </a:r>
                      <a:r>
                        <a:t> strategies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Layered security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Supports backup + recovery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802">
                <a:tc>
                  <a:txBody>
                    <a:bodyPr/>
                    <a:lstStyle/>
                    <a:p>
                      <a:r>
                        <a:t>Batrel &amp; Brahme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Backup 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Risks in backup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Compare different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95">
                <a:tc>
                  <a:txBody>
                    <a:bodyPr/>
                    <a:lstStyle/>
                    <a:p>
                      <a:r>
                        <a:t>Yin et al.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Backup vs ransom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Decision strategies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Recovery over ransom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5802">
                <a:tc>
                  <a:txBody>
                    <a:bodyPr/>
                    <a:lstStyle/>
                    <a:p>
                      <a:r>
                        <a:t>Lehtinen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Tool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Performance differences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Supports tool evaluation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5802">
                <a:tc>
                  <a:txBody>
                    <a:bodyPr/>
                    <a:lstStyle/>
                    <a:p>
                      <a:r>
                        <a:t>Kim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Real-time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Faster detection improves 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Highlights RTO importance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2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METHODOLOGY &amp; SYSTEM ARCHITECTURE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>
            <a:spLocks/>
          </p:cNvSpPr>
          <p:nvPr/>
        </p:nvSpPr>
        <p:spPr>
          <a:xfrm>
            <a:off x="26276" y="996694"/>
            <a:ext cx="5477782" cy="3904489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73183" y="1051455"/>
            <a:ext cx="4919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HOST MACHINE  Windows  PC (VMware Workstation)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434" y="1408071"/>
            <a:ext cx="219456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5434" y="1419527"/>
            <a:ext cx="219456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276" y="1356780"/>
            <a:ext cx="2194560" cy="43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Windows 10 VM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56232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62356" y="1901952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628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VICTIM</a:t>
            </a:r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60230" y="2319633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2 vCPUs · 4 GB RAM · 40 GB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53661" y="2593953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C:\small business files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53661" y="290779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75 files = 408 MB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46305" y="322783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Restic + Duplicati client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46305" y="3520335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UrBackup client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41837" y="384899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PowerShell attack script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 flipV="1">
            <a:off x="2454586" y="3194304"/>
            <a:ext cx="498348" cy="6096"/>
          </a:xfrm>
          <a:prstGeom prst="line">
            <a:avLst/>
          </a:prstGeom>
          <a:noFill/>
          <a:ln w="12700">
            <a:solidFill>
              <a:srgbClr val="546E7A"/>
            </a:solidFill>
            <a:prstDash val="sysDash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340864" y="2527212"/>
            <a:ext cx="649224" cy="801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host-only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network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999232" y="1414272"/>
            <a:ext cx="219456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2999232" y="1414272"/>
            <a:ext cx="2194560" cy="34747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974270" y="14203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Ubuntu 22.04 VM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824" y="1920240"/>
            <a:ext cx="329184" cy="32918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538728" y="1956816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79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BACKUP SERVER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3163824" y="234086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1 vCPU · 2 GB RAM · 20 GB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3163824" y="268833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IP: 192.168.31.141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3163824" y="303580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UrBackup Server 2.5.36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3163824" y="338328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Samba share (Duplicati)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3163824" y="373075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VMware shared folder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3163824" y="407822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(Restic repository)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5705855" y="1042415"/>
            <a:ext cx="3291839" cy="3858767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29"/>
          <p:cNvSpPr/>
          <p:nvPr/>
        </p:nvSpPr>
        <p:spPr>
          <a:xfrm>
            <a:off x="5705856" y="1042416"/>
            <a:ext cx="3291838" cy="3474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5705856" y="1042416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EXPERIMENT FLOW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1"/>
          <p:cNvSpPr/>
          <p:nvPr/>
        </p:nvSpPr>
        <p:spPr>
          <a:xfrm>
            <a:off x="5833872" y="1499616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5833872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1</a:t>
            </a:r>
            <a:endParaRPr lang="en-US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3"/>
          <p:cNvSpPr/>
          <p:nvPr/>
        </p:nvSpPr>
        <p:spPr>
          <a:xfrm>
            <a:off x="5998464" y="1828800"/>
            <a:ext cx="0" cy="128016"/>
          </a:xfrm>
          <a:prstGeom prst="line">
            <a:avLst/>
          </a:prstGeom>
          <a:noFill/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4"/>
          <p:cNvSpPr/>
          <p:nvPr/>
        </p:nvSpPr>
        <p:spPr>
          <a:xfrm>
            <a:off x="6254496" y="153619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Create 75-file business dataset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5"/>
          <p:cNvSpPr/>
          <p:nvPr/>
        </p:nvSpPr>
        <p:spPr>
          <a:xfrm>
            <a:off x="5833872" y="1956816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5833872" y="1956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2</a:t>
            </a:r>
            <a:endParaRPr lang="en-US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7"/>
          <p:cNvSpPr/>
          <p:nvPr/>
        </p:nvSpPr>
        <p:spPr>
          <a:xfrm>
            <a:off x="5998464" y="2286000"/>
            <a:ext cx="0" cy="128016"/>
          </a:xfrm>
          <a:prstGeom prst="line">
            <a:avLst/>
          </a:prstGeom>
          <a:noFill/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6254496" y="199339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Configure &amp; verify all 3 backups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39"/>
          <p:cNvSpPr/>
          <p:nvPr/>
        </p:nvSpPr>
        <p:spPr>
          <a:xfrm>
            <a:off x="5833872" y="2414016"/>
            <a:ext cx="329184" cy="329184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5833872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3</a:t>
            </a:r>
            <a:endParaRPr lang="en-US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1"/>
          <p:cNvSpPr/>
          <p:nvPr/>
        </p:nvSpPr>
        <p:spPr>
          <a:xfrm>
            <a:off x="5998464" y="2743200"/>
            <a:ext cx="0" cy="128016"/>
          </a:xfrm>
          <a:prstGeom prst="line">
            <a:avLst/>
          </a:prstGeom>
          <a:noFill/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6254496" y="245059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Take baseline snapshot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3"/>
          <p:cNvSpPr/>
          <p:nvPr/>
        </p:nvSpPr>
        <p:spPr>
          <a:xfrm>
            <a:off x="5833872" y="2871216"/>
            <a:ext cx="329184" cy="32918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4"/>
          <p:cNvSpPr/>
          <p:nvPr/>
        </p:nvSpPr>
        <p:spPr>
          <a:xfrm>
            <a:off x="5833872" y="2871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4</a:t>
            </a:r>
            <a:endParaRPr lang="en-US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5"/>
          <p:cNvSpPr/>
          <p:nvPr/>
        </p:nvSpPr>
        <p:spPr>
          <a:xfrm>
            <a:off x="5998464" y="3200400"/>
            <a:ext cx="0" cy="128016"/>
          </a:xfrm>
          <a:prstGeom prst="line">
            <a:avLst/>
          </a:prstGeom>
          <a:noFill/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6"/>
          <p:cNvSpPr/>
          <p:nvPr/>
        </p:nvSpPr>
        <p:spPr>
          <a:xfrm>
            <a:off x="6254496" y="290779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Execute PowerShell attack (.locked)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7"/>
          <p:cNvSpPr/>
          <p:nvPr/>
        </p:nvSpPr>
        <p:spPr>
          <a:xfrm>
            <a:off x="5833872" y="3328416"/>
            <a:ext cx="329184" cy="3291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48"/>
          <p:cNvSpPr/>
          <p:nvPr/>
        </p:nvSpPr>
        <p:spPr>
          <a:xfrm>
            <a:off x="5833872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5</a:t>
            </a:r>
            <a:endParaRPr lang="en-US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49"/>
          <p:cNvSpPr/>
          <p:nvPr/>
        </p:nvSpPr>
        <p:spPr>
          <a:xfrm>
            <a:off x="5998464" y="3657600"/>
            <a:ext cx="0" cy="128016"/>
          </a:xfrm>
          <a:prstGeom prst="line">
            <a:avLst/>
          </a:prstGeom>
          <a:noFill/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0"/>
          <p:cNvSpPr/>
          <p:nvPr/>
        </p:nvSpPr>
        <p:spPr>
          <a:xfrm>
            <a:off x="6254496" y="336499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Restore from each backup tool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51"/>
          <p:cNvSpPr/>
          <p:nvPr/>
        </p:nvSpPr>
        <p:spPr>
          <a:xfrm>
            <a:off x="5833872" y="3785616"/>
            <a:ext cx="329184" cy="3291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2"/>
          <p:cNvSpPr/>
          <p:nvPr/>
        </p:nvSpPr>
        <p:spPr>
          <a:xfrm>
            <a:off x="5833872" y="3785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6</a:t>
            </a:r>
            <a:endParaRPr lang="en-US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3"/>
          <p:cNvSpPr/>
          <p:nvPr/>
        </p:nvSpPr>
        <p:spPr>
          <a:xfrm>
            <a:off x="5998464" y="4114800"/>
            <a:ext cx="0" cy="128016"/>
          </a:xfrm>
          <a:prstGeom prst="line">
            <a:avLst/>
          </a:prstGeom>
          <a:noFill/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4"/>
          <p:cNvSpPr/>
          <p:nvPr/>
        </p:nvSpPr>
        <p:spPr>
          <a:xfrm>
            <a:off x="6254496" y="382219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Measure RTO + SHA256 verify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55"/>
          <p:cNvSpPr/>
          <p:nvPr/>
        </p:nvSpPr>
        <p:spPr>
          <a:xfrm>
            <a:off x="5833872" y="4242816"/>
            <a:ext cx="329184" cy="329184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56"/>
          <p:cNvSpPr/>
          <p:nvPr/>
        </p:nvSpPr>
        <p:spPr>
          <a:xfrm>
            <a:off x="5833872" y="4242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7</a:t>
            </a:r>
            <a:endParaRPr lang="en-US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57"/>
          <p:cNvSpPr/>
          <p:nvPr/>
        </p:nvSpPr>
        <p:spPr>
          <a:xfrm>
            <a:off x="6254496" y="427939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Analyse, compare &amp; recommend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DATA COLLECTION &amp; ANALYSIS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" y="1069848"/>
            <a:ext cx="142646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9728" y="1069848"/>
            <a:ext cx="1426464" cy="685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3726" y="1188498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Business Dataset</a:t>
            </a:r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3152" y="1566672"/>
            <a:ext cx="1353312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75 files · 408 MB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CSV, PDF, audio, payroll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810512" y="1746504"/>
            <a:ext cx="128016" cy="0"/>
          </a:xfrm>
          <a:prstGeom prst="line">
            <a:avLst/>
          </a:prstGeom>
          <a:noFill/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0784" y="1069848"/>
            <a:ext cx="142646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700784" y="1075944"/>
            <a:ext cx="1426464" cy="5486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216" y="1185544"/>
            <a:ext cx="196850" cy="1968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862963" y="1163828"/>
            <a:ext cx="1243584" cy="218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Pre-Attack Backup</a:t>
            </a:r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1719072" y="1517903"/>
            <a:ext cx="1353312" cy="7638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3 tools take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clean backup snapshot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3364992" y="1746504"/>
            <a:ext cx="128016" cy="0"/>
          </a:xfrm>
          <a:prstGeom prst="line">
            <a:avLst/>
          </a:prstGeom>
          <a:noFill/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69488" y="1075944"/>
            <a:ext cx="142646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3269488" y="1069848"/>
            <a:ext cx="1426464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523" y="1159320"/>
            <a:ext cx="204153" cy="20415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419856" y="1158240"/>
            <a:ext cx="1321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Ransomware Attack</a:t>
            </a:r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3291840" y="1410780"/>
            <a:ext cx="1353312" cy="763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PowerShell all files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become .locked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584" y="2564892"/>
            <a:ext cx="142646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100584" y="2570321"/>
            <a:ext cx="1426464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746" y="2665253"/>
            <a:ext cx="170467" cy="170467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7160" y="2658903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Attack Verified</a:t>
            </a:r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109728" y="3054096"/>
            <a:ext cx="129641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Files confirmed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inaccessible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1728216" y="2538222"/>
            <a:ext cx="142646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1728216" y="2559558"/>
            <a:ext cx="1426464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7934" y="2671635"/>
            <a:ext cx="181101" cy="181101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848358" y="2664333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Restore &amp; Measure</a:t>
            </a:r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1"/>
          <p:cNvSpPr/>
          <p:nvPr/>
        </p:nvSpPr>
        <p:spPr>
          <a:xfrm>
            <a:off x="1741932" y="3044444"/>
            <a:ext cx="1353312" cy="530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Restore from backup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Record RTO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3"/>
          <p:cNvSpPr/>
          <p:nvPr/>
        </p:nvSpPr>
        <p:spPr>
          <a:xfrm>
            <a:off x="3279902" y="2529840"/>
            <a:ext cx="142646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4"/>
          <p:cNvSpPr/>
          <p:nvPr/>
        </p:nvSpPr>
        <p:spPr>
          <a:xfrm>
            <a:off x="3282506" y="2546604"/>
            <a:ext cx="1426464" cy="548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8134" y="2671635"/>
            <a:ext cx="191294" cy="191294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355658" y="2627121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Integrity Check</a:t>
            </a:r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37"/>
          <p:cNvSpPr>
            <a:spLocks/>
          </p:cNvSpPr>
          <p:nvPr/>
        </p:nvSpPr>
        <p:spPr>
          <a:xfrm>
            <a:off x="3306064" y="3054096"/>
            <a:ext cx="135331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SHA256 hashing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zero differences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3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38928" y="1060703"/>
            <a:ext cx="3657600" cy="3761899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5148072" y="1075944"/>
            <a:ext cx="3657600" cy="347472"/>
          </a:xfrm>
          <a:prstGeom prst="rect">
            <a:avLst/>
          </a:prstGeom>
          <a:solidFill>
            <a:schemeClr val="bg2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5138928" y="10607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METRICS COLLECTED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0952" y="1655064"/>
            <a:ext cx="237744" cy="237744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5541264" y="1662079"/>
            <a:ext cx="2944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Recovery Time (RTO):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43"/>
          <p:cNvSpPr/>
          <p:nvPr/>
        </p:nvSpPr>
        <p:spPr>
          <a:xfrm>
            <a:off x="5596128" y="19491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Linux time command exact seconds from restore start to finish</a:t>
            </a:r>
            <a:endParaRPr 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0952" y="2295144"/>
            <a:ext cx="237744" cy="237744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5568696" y="2299492"/>
            <a:ext cx="2944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File Recovery Rate: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46"/>
          <p:cNvSpPr/>
          <p:nvPr/>
        </p:nvSpPr>
        <p:spPr>
          <a:xfrm>
            <a:off x="5596128" y="2621930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find 75/75 files confirmed after each restore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7246" y="3012948"/>
            <a:ext cx="237744" cy="237744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5596128" y="2966892"/>
            <a:ext cx="2944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Integrity (SHA256):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49"/>
          <p:cNvSpPr/>
          <p:nvPr/>
        </p:nvSpPr>
        <p:spPr>
          <a:xfrm>
            <a:off x="5634990" y="3294664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sha256sum diff: original vs restored = zero differences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7246" y="3680348"/>
            <a:ext cx="237744" cy="237744"/>
          </a:xfrm>
          <a:prstGeom prst="rect">
            <a:avLst/>
          </a:prstGeom>
        </p:spPr>
      </p:pic>
      <p:sp>
        <p:nvSpPr>
          <p:cNvPr id="63" name="Text 51"/>
          <p:cNvSpPr/>
          <p:nvPr/>
        </p:nvSpPr>
        <p:spPr>
          <a:xfrm>
            <a:off x="5634990" y="3701416"/>
            <a:ext cx="2944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Backup Storage Size: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52"/>
          <p:cNvSpPr/>
          <p:nvPr/>
        </p:nvSpPr>
        <p:spPr>
          <a:xfrm>
            <a:off x="5634990" y="4018312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Actual MB stored per tool on the Ubuntu backup server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53"/>
          <p:cNvSpPr/>
          <p:nvPr/>
        </p:nvSpPr>
        <p:spPr>
          <a:xfrm>
            <a:off x="137160" y="4127659"/>
            <a:ext cx="4571810" cy="694944"/>
          </a:xfrm>
          <a:prstGeom prst="rect">
            <a:avLst/>
          </a:prstGeom>
          <a:solidFill>
            <a:schemeClr val="bg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54"/>
          <p:cNvSpPr/>
          <p:nvPr/>
        </p:nvSpPr>
        <p:spPr>
          <a:xfrm>
            <a:off x="137160" y="4220861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C628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ATTACK SCRIPT</a:t>
            </a:r>
            <a:endParaRPr 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55"/>
          <p:cNvSpPr/>
          <p:nvPr/>
        </p:nvSpPr>
        <p:spPr>
          <a:xfrm>
            <a:off x="1133856" y="4246531"/>
            <a:ext cx="3438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Get-ChildItem "C:\small business files"</a:t>
            </a:r>
            <a:endParaRPr lang="en-US" sz="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" b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-Recurse -File | Rename-Item</a:t>
            </a:r>
            <a:endParaRPr lang="en-US" sz="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" b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-NewName { $_.Name + ".locked" }</a:t>
            </a:r>
            <a:endParaRPr lang="en-US" sz="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0" name="Graphic 69" descr="Document outline">
            <a:extLst>
              <a:ext uri="{FF2B5EF4-FFF2-40B4-BE49-F238E27FC236}">
                <a16:creationId xmlns:a16="http://schemas.microsoft.com/office/drawing/2014/main" id="{69C9A8E7-5612-7B16-E7B5-2FC8324AA5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820" y="1168908"/>
            <a:ext cx="243840" cy="243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2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IMPLEMENTATION &amp; RESULT ANALYSIS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10896" y="1024128"/>
            <a:ext cx="2798064" cy="2944368"/>
          </a:xfrm>
          <a:prstGeom prst="rect">
            <a:avLst/>
          </a:prstGeom>
          <a:solidFill>
            <a:srgbClr val="EBF5FB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10896" y="1024128"/>
            <a:ext cx="2798064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02336" y="104241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Restic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267712" y="1152144"/>
            <a:ext cx="73152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267712" y="115214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1565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⚡ FASTEST</a:t>
            </a:r>
            <a:endParaRPr lang="en-US" sz="6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0624" y="1554480"/>
            <a:ext cx="2596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RTO</a:t>
            </a:r>
            <a:endParaRPr 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20624" y="1719072"/>
            <a:ext cx="2596896" cy="40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565C0"/>
                </a:solidFill>
                <a:latin typeface="Times New Roman"/>
                <a:cs typeface="Times New Roman"/>
              </a:rPr>
              <a:t>7.503sec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0624" y="2157984"/>
            <a:ext cx="2596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CONFIG</a:t>
            </a:r>
            <a:endParaRPr lang="en-US" sz="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0624" y="2359152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CLI · v0.18.1 · Windows</a:t>
            </a:r>
            <a:endParaRPr lang="en-US" sz="9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20624" y="2633472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Repo: C:\resticrepo → Ubuntu VMware share</a:t>
            </a:r>
            <a:endParaRPr lang="en-US" sz="9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20624" y="2907792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Password-protected · Snapshot d5ede1d9</a:t>
            </a:r>
            <a:endParaRPr lang="en-US" sz="9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20624" y="3218688"/>
            <a:ext cx="2578608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20624" y="3273552"/>
            <a:ext cx="2596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1565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RESULTS</a:t>
            </a:r>
            <a:endParaRPr 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20624" y="3474720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75/75 files · 100% rate</a:t>
            </a:r>
            <a:endParaRPr lang="en-US" sz="9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20624" y="373075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SHA256: zero differences</a:t>
            </a:r>
            <a:endParaRPr lang="en-US" sz="9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20624" y="3986784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</a:t>
            </a:r>
            <a:r>
              <a:rPr lang="en-US" sz="95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Restore cmd: restic restore latest</a:t>
            </a:r>
            <a:endParaRPr lang="en-US" sz="9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73552" y="1024128"/>
            <a:ext cx="2798064" cy="2944368"/>
          </a:xfrm>
          <a:prstGeom prst="rect">
            <a:avLst/>
          </a:prstGeom>
          <a:solidFill>
            <a:srgbClr val="FFF8E1"/>
          </a:solidFill>
          <a:ln w="1905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73552" y="1024128"/>
            <a:ext cx="2798064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364992" y="104241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Duplicati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230368" y="1152144"/>
            <a:ext cx="73152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230368" y="115214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E651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🔒 AES-256</a:t>
            </a:r>
            <a:endParaRPr lang="en-US" sz="6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383280" y="1554480"/>
            <a:ext cx="2596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RTO</a:t>
            </a:r>
            <a:endParaRPr 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383280" y="1719072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E6510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&lt; 1 min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383280" y="2157984"/>
            <a:ext cx="2596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CONFIG</a:t>
            </a:r>
            <a:endParaRPr 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383280" y="2359152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Web GUI · AES-256 encrypted</a:t>
            </a:r>
            <a:endParaRPr lang="en-US" sz="9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383280" y="2633472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Dest: \\192.168.31.141\DuplicatiBackup</a:t>
            </a:r>
            <a:endParaRPr lang="en-US" sz="9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383280" y="2907792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Samba share · 100 MB volumes</a:t>
            </a:r>
            <a:endParaRPr lang="en-US" sz="9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383280" y="3218688"/>
            <a:ext cx="2578608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383280" y="3273552"/>
            <a:ext cx="2596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E651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RESULTS</a:t>
            </a:r>
            <a:endParaRPr 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383280" y="3474720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75/75 files · 100% rate</a:t>
            </a:r>
            <a:endParaRPr lang="en-US" sz="9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383280" y="373075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SHA256: Zero differences</a:t>
            </a:r>
            <a:endParaRPr lang="en-US" sz="9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383280" y="3986784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</a:t>
            </a:r>
            <a:r>
              <a:rPr lang="en-US" sz="95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Strongest encryption of all three</a:t>
            </a:r>
            <a:endParaRPr lang="en-US" sz="9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236208" y="1024128"/>
            <a:ext cx="2798064" cy="2944368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236208" y="1024128"/>
            <a:ext cx="2798064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327648" y="104241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UrBackup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193024" y="1152144"/>
            <a:ext cx="73152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193024" y="115214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🖥 MANAGED</a:t>
            </a:r>
            <a:endParaRPr lang="en-US" sz="6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345936" y="1554480"/>
            <a:ext cx="2596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RTO</a:t>
            </a:r>
            <a:endParaRPr 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345936" y="1719072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E7D3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&lt; 1 min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345936" y="2157984"/>
            <a:ext cx="2596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CONFIG</a:t>
            </a:r>
            <a:endParaRPr 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345936" y="2359152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Server 2.5.36 on Ubuntu</a:t>
            </a:r>
            <a:endParaRPr lang="en-US" sz="9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345936" y="2633472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Web UI: http://192.168.31.141:55414</a:t>
            </a:r>
            <a:endParaRPr lang="en-US" sz="9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345936" y="2907792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Full file backup · 383.57 MB</a:t>
            </a:r>
            <a:endParaRPr lang="en-US" sz="9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345936" y="3218688"/>
            <a:ext cx="2578608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345936" y="3273552"/>
            <a:ext cx="2596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RESULTS</a:t>
            </a:r>
            <a:endParaRPr 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345936" y="3474720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75/75 files · 100% rate</a:t>
            </a:r>
            <a:endParaRPr lang="en-US" sz="9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345936" y="373075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Hash comparison: PASSED</a:t>
            </a:r>
            <a:endParaRPr lang="en-US" sz="9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345936" y="3986784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</a:t>
            </a:r>
            <a:r>
              <a:rPr lang="en-US" sz="950">
                <a:solidFill>
                  <a:srgbClr val="546E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Smallest backup footprint</a:t>
            </a:r>
            <a:endParaRPr lang="en-US" sz="9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4" name="Chart 0"/>
          <p:cNvGraphicFramePr/>
          <p:nvPr>
            <p:extLst>
              <p:ext uri="{D42A27DB-BD31-4B8C-83A1-F6EECF244321}">
                <p14:modId xmlns:p14="http://schemas.microsoft.com/office/powerpoint/2010/main" val="485045837"/>
              </p:ext>
            </p:extLst>
          </p:nvPr>
        </p:nvGraphicFramePr>
        <p:xfrm>
          <a:off x="3133765" y="4224529"/>
          <a:ext cx="2060027" cy="9189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" name="Text 52"/>
          <p:cNvSpPr/>
          <p:nvPr/>
        </p:nvSpPr>
        <p:spPr>
          <a:xfrm>
            <a:off x="6071616" y="4413662"/>
            <a:ext cx="1956816" cy="545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Recovery Time (seconds)  —  Restic 6× faster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TESTING &amp; DEPLOYMENT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>
            <a:spLocks/>
          </p:cNvSpPr>
          <p:nvPr/>
        </p:nvSpPr>
        <p:spPr>
          <a:xfrm>
            <a:off x="128016" y="987552"/>
            <a:ext cx="4315969" cy="1645920"/>
          </a:xfrm>
          <a:prstGeom prst="rect">
            <a:avLst/>
          </a:prstGeom>
          <a:solidFill>
            <a:srgbClr val="EBF5FB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17" y="119212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9" y="1183616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2137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File Count Verification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65969" y="1527048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accent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</a:t>
            </a: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find | wc -l on original folder → 75 files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65969" y="1873244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565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</a:t>
            </a: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Same command on each restored folder → 75/75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65969" y="2231561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565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</a:t>
            </a: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100% count match confirmed across all three tools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>
            <a:spLocks/>
          </p:cNvSpPr>
          <p:nvPr/>
        </p:nvSpPr>
        <p:spPr>
          <a:xfrm>
            <a:off x="4663229" y="1005840"/>
            <a:ext cx="4297891" cy="1645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412" y="1179576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48656" y="1182978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D2137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SHA256 Data Integrity</a:t>
            </a:r>
            <a:endParaRPr lang="en-US" sz="12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486400" y="1527048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</a:t>
            </a: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sha256sum on originals → original_hashes.txt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486400" y="1878029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</a:t>
            </a:r>
            <a:r>
              <a:rPr lang="en-US" sz="10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sha256sum on restored → restored_hashes.txt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486400" y="2249424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</a:t>
            </a: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diff output: empty (zero lines) = perfect match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6"/>
          <p:cNvSpPr>
            <a:spLocks/>
          </p:cNvSpPr>
          <p:nvPr/>
        </p:nvSpPr>
        <p:spPr>
          <a:xfrm>
            <a:off x="128015" y="2737884"/>
            <a:ext cx="4315969" cy="1645920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126" y="2830812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7326" y="2872279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D2137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RTO Measurement</a:t>
            </a:r>
            <a:endParaRPr lang="en-US" sz="12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765969" y="3172968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651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</a:t>
            </a: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Restic: Linux time command → 7.503 seconds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765969" y="3490882"/>
            <a:ext cx="3604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651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</a:t>
            </a: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Duplicati &amp; UrBackup: log timestamps same minute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765969" y="3785616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651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</a:t>
            </a: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tools met the SMB target of &lt; 1 minute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2"/>
          <p:cNvSpPr>
            <a:spLocks/>
          </p:cNvSpPr>
          <p:nvPr/>
        </p:nvSpPr>
        <p:spPr>
          <a:xfrm>
            <a:off x="4663229" y="2748835"/>
            <a:ext cx="4297891" cy="1627632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5011" y="2830812"/>
            <a:ext cx="292608" cy="2926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248656" y="2818904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D2137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Safety &amp; Isolation Validated</a:t>
            </a:r>
            <a:endParaRPr lang="en-US" sz="12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5486400" y="3189236"/>
            <a:ext cx="3438144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b="1">
                <a:solidFill>
                  <a:srgbClr val="C62828"/>
                </a:solidFill>
                <a:latin typeface="Times New Roman"/>
                <a:ea typeface="Calibri"/>
                <a:cs typeface="Times New Roman"/>
              </a:rPr>
              <a:t>✓ </a:t>
            </a:r>
            <a:r>
              <a:rPr lang="en-US" sz="1100" b="1">
                <a:latin typeface="Times New Roman"/>
                <a:ea typeface="Calibri"/>
                <a:cs typeface="Times New Roman"/>
              </a:rPr>
              <a:t>Host-only VMware -- no internet during attack</a:t>
            </a:r>
          </a:p>
        </p:txBody>
      </p:sp>
      <p:sp>
        <p:nvSpPr>
          <p:cNvPr id="32" name="Text 26"/>
          <p:cNvSpPr/>
          <p:nvPr/>
        </p:nvSpPr>
        <p:spPr>
          <a:xfrm>
            <a:off x="5486400" y="3509595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628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</a:t>
            </a: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PowerShell script only — zero real malware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5522976" y="3860470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628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</a:t>
            </a: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VMware snapshots enable instant rollback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0" y="4420061"/>
            <a:ext cx="9143999" cy="723439"/>
          </a:xfrm>
          <a:prstGeom prst="rect">
            <a:avLst/>
          </a:prstGeom>
          <a:solidFill>
            <a:schemeClr val="bg2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0" y="4396881"/>
            <a:ext cx="9143999" cy="746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DEPLOYMENT: Fully replicable open-source only, runs on a single standard laptop, zero software cost. Any SMB can reproduce this framework today.</a:t>
            </a:r>
            <a:endParaRPr 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2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ETHICAL ISSUES &amp; LIMITATIONS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7145" y="1060703"/>
            <a:ext cx="4397423" cy="3840481"/>
          </a:xfrm>
          <a:prstGeom prst="rect">
            <a:avLst/>
          </a:prstGeom>
          <a:solidFill>
            <a:srgbClr val="FFFDE7"/>
          </a:solidFill>
          <a:ln w="1270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47145" y="1060704"/>
            <a:ext cx="4397423" cy="420624"/>
          </a:xfrm>
          <a:prstGeom prst="rect">
            <a:avLst/>
          </a:prstGeom>
          <a:solidFill>
            <a:schemeClr val="bg2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84048" y="106070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 ETHICAL CONDUCT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1591056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24490" y="1540724"/>
            <a:ext cx="3493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628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Real Malware: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91540" y="1746710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PowerShell script only renames files, no encryption. Zero malware risk at any stage.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59" y="224028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24490" y="2214710"/>
            <a:ext cx="3493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65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Full Isolation: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91540" y="2434166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Host-only VMware network, no internet.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2841776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2688" y="2826851"/>
            <a:ext cx="3493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79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Dummy Data Only: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932688" y="3011894"/>
            <a:ext cx="3493008" cy="3611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synthetic test files no real personal or business data used.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160" y="3497791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4490" y="3494870"/>
            <a:ext cx="3493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6A1B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Open-Source Attribution: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932688" y="3787272"/>
            <a:ext cx="3493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Restic (MIT), Duplicati (LGPL), UrBackup (AGPL)  all properly cited.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160" y="4137909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32688" y="4128515"/>
            <a:ext cx="3493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Honest Reporting: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891540" y="4445678"/>
            <a:ext cx="3493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failures and limitations documented no results inflated.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1728" y="1060704"/>
            <a:ext cx="4279392" cy="3840480"/>
          </a:xfrm>
          <a:prstGeom prst="rect">
            <a:avLst/>
          </a:prstGeom>
          <a:solidFill>
            <a:srgbClr val="FFF3E0"/>
          </a:solidFill>
          <a:ln w="127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4681728" y="1060704"/>
            <a:ext cx="4279392" cy="365760"/>
          </a:xfrm>
          <a:prstGeom prst="rect">
            <a:avLst/>
          </a:prstGeom>
          <a:solidFill>
            <a:schemeClr val="bg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4681728" y="1060704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 LIMITATIONS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4809744" y="1627632"/>
            <a:ext cx="45720" cy="32918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4937760" y="1572768"/>
            <a:ext cx="3694176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62828"/>
                </a:solidFill>
                <a:latin typeface="Times New Roman"/>
                <a:ea typeface="Calibri"/>
                <a:cs typeface="Times New Roman"/>
              </a:rPr>
              <a:t>Lab Production:</a:t>
            </a:r>
            <a:endParaRPr lang="en-US" sz="1200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4937760" y="181051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VMware VMs differ from physical hardware;  speeds won't match real SMB environments.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28"/>
          <p:cNvSpPr/>
          <p:nvPr/>
        </p:nvSpPr>
        <p:spPr>
          <a:xfrm>
            <a:off x="4813107" y="2293075"/>
            <a:ext cx="45720" cy="32918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9"/>
          <p:cNvSpPr/>
          <p:nvPr/>
        </p:nvSpPr>
        <p:spPr>
          <a:xfrm>
            <a:off x="4946904" y="2255298"/>
            <a:ext cx="3694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628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Small Dataset (408 MB):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0"/>
          <p:cNvSpPr/>
          <p:nvPr/>
        </p:nvSpPr>
        <p:spPr>
          <a:xfrm>
            <a:off x="4946904" y="2432834"/>
            <a:ext cx="4059936" cy="422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 SMBs may have TBs of data. RTO will scale significantly at larger volumes.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1"/>
          <p:cNvSpPr/>
          <p:nvPr/>
        </p:nvSpPr>
        <p:spPr>
          <a:xfrm>
            <a:off x="4809744" y="3714326"/>
            <a:ext cx="45720" cy="32918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2"/>
          <p:cNvSpPr/>
          <p:nvPr/>
        </p:nvSpPr>
        <p:spPr>
          <a:xfrm>
            <a:off x="4983480" y="2972483"/>
            <a:ext cx="3694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628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File-Rename Only: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3"/>
          <p:cNvSpPr/>
          <p:nvPr/>
        </p:nvSpPr>
        <p:spPr>
          <a:xfrm>
            <a:off x="4983480" y="3221947"/>
            <a:ext cx="4023360" cy="270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 ransomware encrypts, exfiltrates, and spreads laterally  not simulated here.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4"/>
          <p:cNvSpPr/>
          <p:nvPr/>
        </p:nvSpPr>
        <p:spPr>
          <a:xfrm>
            <a:off x="4813107" y="3057355"/>
            <a:ext cx="45720" cy="32918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5"/>
          <p:cNvSpPr/>
          <p:nvPr/>
        </p:nvSpPr>
        <p:spPr>
          <a:xfrm>
            <a:off x="4974336" y="3622058"/>
            <a:ext cx="3694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628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IDS/SIEM Layer: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36"/>
          <p:cNvSpPr/>
          <p:nvPr/>
        </p:nvSpPr>
        <p:spPr>
          <a:xfrm>
            <a:off x="4983480" y="3847898"/>
            <a:ext cx="4023360" cy="234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intrusion detection alongside backups full incident response not evaluated.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37"/>
          <p:cNvSpPr/>
          <p:nvPr/>
        </p:nvSpPr>
        <p:spPr>
          <a:xfrm>
            <a:off x="4809744" y="4347971"/>
            <a:ext cx="45720" cy="32918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38"/>
          <p:cNvSpPr/>
          <p:nvPr/>
        </p:nvSpPr>
        <p:spPr>
          <a:xfrm>
            <a:off x="4974336" y="4265713"/>
            <a:ext cx="3694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628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Single Run Per Tool: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39"/>
          <p:cNvSpPr/>
          <p:nvPr/>
        </p:nvSpPr>
        <p:spPr>
          <a:xfrm>
            <a:off x="4983480" y="4491553"/>
            <a:ext cx="3977640" cy="2907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Reliability not confirmed over multiple runs. One success consistent performance.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6400800" y="457200"/>
            <a:ext cx="256032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754380"/>
            <a:ext cx="9144000" cy="818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All three tools succeeded.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b="1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Choose based on your SMB's priorities.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21792" y="1572768"/>
            <a:ext cx="2706624" cy="1463040"/>
          </a:xfrm>
          <a:prstGeom prst="rect">
            <a:avLst/>
          </a:prstGeom>
          <a:solidFill>
            <a:srgbClr val="EBF5FB"/>
          </a:solidFill>
          <a:ln w="254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21792" y="1572768"/>
            <a:ext cx="2706624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13232" y="1572768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Restic 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13232" y="2066544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>
                <a:solidFill>
                  <a:srgbClr val="1565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BEST FOR SPEED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13232" y="2286000"/>
            <a:ext cx="252374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~7.5 sec RTO · CLI · Snapshot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tech-savvy IT admins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456432" y="1572768"/>
            <a:ext cx="2706624" cy="1463040"/>
          </a:xfrm>
          <a:prstGeom prst="rect">
            <a:avLst/>
          </a:prstGeom>
          <a:solidFill>
            <a:srgbClr val="FFF8E1"/>
          </a:solidFill>
          <a:ln w="2540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456432" y="1572768"/>
            <a:ext cx="2706624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547872" y="1572768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Duplicati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547872" y="2066544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>
                <a:solidFill>
                  <a:srgbClr val="E651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BEST FOR SECURITY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547872" y="2286000"/>
            <a:ext cx="252374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AES-256 · Web GUI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non-technical SMB users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297694" y="1572768"/>
            <a:ext cx="2706624" cy="146304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297694" y="1581912"/>
            <a:ext cx="2706624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382512" y="1572768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UrBackup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382512" y="2066544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BEST FOR MANAGEMENT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382512" y="2286000"/>
            <a:ext cx="252374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Web dashboard · Server-client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Multi-machine centralised control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0" y="3145536"/>
            <a:ext cx="9144000" cy="548640"/>
          </a:xfrm>
          <a:prstGeom prst="rect">
            <a:avLst/>
          </a:prstGeom>
          <a:solidFill>
            <a:schemeClr val="bg2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0" y="3145536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FINDINGS:  ✓ 100% file recovery (all tools)   ✓ Restic fastest: 7.5s RTO   ✓ SHA256: zero data corruption   ✓ Open-source = zero licensing cost   ✓ Isolated backups survived attack</a:t>
            </a:r>
            <a:endParaRPr lang="en-US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93776" y="4273086"/>
            <a:ext cx="219456" cy="21945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84632" y="429334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94944" y="4236510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Restic when sub-10-second RTO is critical (tech admins)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868410" y="4293216"/>
            <a:ext cx="219456" cy="21945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868410" y="428822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090945" y="4236510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Duplicati for AES-256 protection + non-technical users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93776" y="4638846"/>
            <a:ext cx="219456" cy="21945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96443" y="4641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713231" y="4608576"/>
            <a:ext cx="41121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UrBackup for multi-machine centralised SMB management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4876063" y="4632540"/>
            <a:ext cx="219456" cy="21945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882896" y="46325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102352" y="4602270"/>
            <a:ext cx="39782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Always keep backups isolated/offline from production network</a:t>
            </a:r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0">
            <a:extLst>
              <a:ext uri="{FF2B5EF4-FFF2-40B4-BE49-F238E27FC236}">
                <a16:creationId xmlns:a16="http://schemas.microsoft.com/office/drawing/2014/main" id="{ACB2FBB7-335A-BFD7-4DB7-90116353DCF3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2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AU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CA1F50F2-1018-8F46-5442-FBDC7DF90FC4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RECOMENDATION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75343-1837-0836-9FE5-BB0FA87B8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5E4B913F-9A37-C175-6050-54902AD5E116}"/>
              </a:ext>
            </a:extLst>
          </p:cNvPr>
          <p:cNvSpPr/>
          <p:nvPr/>
        </p:nvSpPr>
        <p:spPr>
          <a:xfrm>
            <a:off x="0" y="0"/>
            <a:ext cx="9144000" cy="62276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pPr algn="ctr"/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 –VISUAL EVIDENCE</a:t>
            </a:r>
            <a:endParaRPr lang="en-AU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557CE8-C67E-FFE9-26FE-BCF35CD2BC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492"/>
          <a:stretch>
            <a:fillRect/>
          </a:stretch>
        </p:blipFill>
        <p:spPr>
          <a:xfrm>
            <a:off x="0" y="1033293"/>
            <a:ext cx="4229100" cy="33661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44E11D-3883-27D6-D82C-78832D9017EA}"/>
              </a:ext>
            </a:extLst>
          </p:cNvPr>
          <p:cNvSpPr txBox="1"/>
          <p:nvPr/>
        </p:nvSpPr>
        <p:spPr>
          <a:xfrm>
            <a:off x="66674" y="4371931"/>
            <a:ext cx="4162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Fig1: Checking snapshots which was shared from windows to ubuntu for backup</a:t>
            </a:r>
            <a:endParaRPr lang="en-A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A60415-F0AF-5A1C-1B6C-6E6E57F943BA}"/>
              </a:ext>
            </a:extLst>
          </p:cNvPr>
          <p:cNvSpPr/>
          <p:nvPr/>
        </p:nvSpPr>
        <p:spPr>
          <a:xfrm>
            <a:off x="3336924" y="622766"/>
            <a:ext cx="1971676" cy="410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9D40C7-5EA1-B7EE-DA47-6F271CEFE121}"/>
              </a:ext>
            </a:extLst>
          </p:cNvPr>
          <p:cNvSpPr txBox="1"/>
          <p:nvPr/>
        </p:nvSpPr>
        <p:spPr>
          <a:xfrm>
            <a:off x="3657602" y="571628"/>
            <a:ext cx="1257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Restic</a:t>
            </a:r>
            <a:endParaRPr lang="en-AU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52ABBF5-8A9C-5A8A-DB5C-67928A353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2" y="1084431"/>
            <a:ext cx="4741416" cy="32875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0D03E1D-96B2-0C93-B6C2-244CEE1AB571}"/>
              </a:ext>
            </a:extLst>
          </p:cNvPr>
          <p:cNvSpPr txBox="1"/>
          <p:nvPr/>
        </p:nvSpPr>
        <p:spPr>
          <a:xfrm>
            <a:off x="4572000" y="4415246"/>
            <a:ext cx="4505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Fig 2: Ransomware on Original files which are found to be .locked extensions.</a:t>
            </a:r>
            <a:endParaRPr lang="en-A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131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7A9A6-D58F-5D46-1CEB-ABB16B14B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5A8394-28F8-4296-3A66-C0DB622B5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2" y="105246"/>
            <a:ext cx="4917760" cy="23325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84CBF0-F6D2-7071-06EC-9FA89C4FF3CD}"/>
              </a:ext>
            </a:extLst>
          </p:cNvPr>
          <p:cNvSpPr txBox="1"/>
          <p:nvPr/>
        </p:nvSpPr>
        <p:spPr>
          <a:xfrm>
            <a:off x="53652" y="2437762"/>
            <a:ext cx="4327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Fig 3: Restore process and timing check</a:t>
            </a:r>
            <a:endParaRPr lang="en-A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C3DA0F-FD8F-1BC0-E997-96DF9A80F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408" y="65446"/>
            <a:ext cx="4172583" cy="23325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16EB341-E45A-22AB-01C6-E34C913511BF}"/>
              </a:ext>
            </a:extLst>
          </p:cNvPr>
          <p:cNvSpPr txBox="1"/>
          <p:nvPr/>
        </p:nvSpPr>
        <p:spPr>
          <a:xfrm>
            <a:off x="5051747" y="2397962"/>
            <a:ext cx="4226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Fig 4: Check the hash Value for both original files and restored files. </a:t>
            </a:r>
            <a:endParaRPr lang="en-AU" sz="14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EEA87F4-2EE8-DB9F-7A32-5055C324D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99" y="2845324"/>
            <a:ext cx="6819900" cy="223273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9F6FAC4-8E07-DC82-21F0-AC8520B03F60}"/>
              </a:ext>
            </a:extLst>
          </p:cNvPr>
          <p:cNvSpPr txBox="1"/>
          <p:nvPr/>
        </p:nvSpPr>
        <p:spPr>
          <a:xfrm>
            <a:off x="7124700" y="4037604"/>
            <a:ext cx="2019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Fig 5: Comparing the no of files on both the original folders and Restored folders.</a:t>
            </a:r>
            <a:endParaRPr lang="en-A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886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768E8D7-0C05-D713-A71F-BEB8B6314F4C}"/>
              </a:ext>
            </a:extLst>
          </p:cNvPr>
          <p:cNvSpPr txBox="1"/>
          <p:nvPr/>
        </p:nvSpPr>
        <p:spPr>
          <a:xfrm>
            <a:off x="0" y="-36938"/>
            <a:ext cx="2552700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Duplicati 	</a:t>
            </a:r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AD3680D-40DF-A829-D74E-3F07E6D33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332394"/>
            <a:ext cx="4486488" cy="252241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F9A890B-A99F-8F7F-B632-BE981D08EF38}"/>
              </a:ext>
            </a:extLst>
          </p:cNvPr>
          <p:cNvSpPr txBox="1"/>
          <p:nvPr/>
        </p:nvSpPr>
        <p:spPr>
          <a:xfrm>
            <a:off x="4486489" y="376606"/>
            <a:ext cx="4608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Fig 6: backing up the files from windows in </a:t>
            </a:r>
            <a:r>
              <a:rPr lang="en-US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duplicati</a:t>
            </a:r>
            <a:endParaRPr lang="en-A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43CD7BA-E0C9-7D87-4603-151B825AF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489" y="2273300"/>
            <a:ext cx="4608706" cy="289571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A0F4840-D3F7-B875-9C76-F9B3F3C021EA}"/>
              </a:ext>
            </a:extLst>
          </p:cNvPr>
          <p:cNvSpPr txBox="1"/>
          <p:nvPr/>
        </p:nvSpPr>
        <p:spPr>
          <a:xfrm>
            <a:off x="0" y="4472552"/>
            <a:ext cx="45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Fig 7: Run a ransomware and files are with .locked extension.</a:t>
            </a:r>
            <a:endParaRPr lang="en-A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866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025F6C-4D00-8241-DB42-1ED806672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874788-2D78-5464-9A34-4F5D788B6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4" y="102989"/>
            <a:ext cx="4388909" cy="24687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F8AA2A-26F8-DD73-D95E-C722C7ABA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316" y="2476500"/>
            <a:ext cx="4558242" cy="25640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51AB22-1010-1705-7744-2B400C1D7CCD}"/>
              </a:ext>
            </a:extLst>
          </p:cNvPr>
          <p:cNvSpPr txBox="1"/>
          <p:nvPr/>
        </p:nvSpPr>
        <p:spPr>
          <a:xfrm>
            <a:off x="4451353" y="159434"/>
            <a:ext cx="40195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>
                <a:latin typeface="Times New Roman" panose="02020603050405020304" pitchFamily="18" charset="0"/>
                <a:cs typeface="Times New Roman" panose="02020603050405020304" pitchFamily="18" charset="0"/>
              </a:rPr>
              <a:t>Fig 8: Restoring process in ubuntu </a:t>
            </a:r>
            <a:r>
              <a:rPr lang="en-AU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dublicati</a:t>
            </a:r>
            <a:r>
              <a:rPr lang="en-AU" sz="140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B5A468-6DBC-3AFD-40E6-CC282EBD190F}"/>
              </a:ext>
            </a:extLst>
          </p:cNvPr>
          <p:cNvSpPr txBox="1"/>
          <p:nvPr/>
        </p:nvSpPr>
        <p:spPr>
          <a:xfrm>
            <a:off x="-35981" y="4411662"/>
            <a:ext cx="4523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Fig 9: we compared both the file's , Restored files are identical with original files.png</a:t>
            </a:r>
            <a:endParaRPr lang="en-A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124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41CAE-25CB-90C0-FBC2-EF0997F37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F70A35-4814-EEAA-3F22-C8CCD2949BBF}"/>
              </a:ext>
            </a:extLst>
          </p:cNvPr>
          <p:cNvSpPr/>
          <p:nvPr/>
        </p:nvSpPr>
        <p:spPr>
          <a:xfrm>
            <a:off x="76200" y="65048"/>
            <a:ext cx="2298700" cy="57201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162C51-6849-A5D4-CE8C-C71BAF0F4C02}"/>
              </a:ext>
            </a:extLst>
          </p:cNvPr>
          <p:cNvSpPr txBox="1"/>
          <p:nvPr/>
        </p:nvSpPr>
        <p:spPr>
          <a:xfrm>
            <a:off x="165100" y="166390"/>
            <a:ext cx="2070100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err="1"/>
              <a:t>Urbackup</a:t>
            </a:r>
            <a:r>
              <a:rPr lang="en-US"/>
              <a:t> </a:t>
            </a:r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131950-C0E2-CD60-8913-6A21427EA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27574"/>
            <a:ext cx="4813300" cy="30215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C4FBCDB-9A32-E894-D033-5B69C838B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50" y="1536700"/>
            <a:ext cx="4096550" cy="3606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6C8FEED-E362-BE30-225B-10C242185D76}"/>
              </a:ext>
            </a:extLst>
          </p:cNvPr>
          <p:cNvSpPr txBox="1"/>
          <p:nvPr/>
        </p:nvSpPr>
        <p:spPr>
          <a:xfrm>
            <a:off x="4889500" y="637064"/>
            <a:ext cx="4254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Fig 10: Files backup successfully and then shared to ubuntu via shared folder.</a:t>
            </a:r>
            <a:endParaRPr lang="en-A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A3C472-7BDC-9B1F-B798-7CC9802221E9}"/>
              </a:ext>
            </a:extLst>
          </p:cNvPr>
          <p:cNvSpPr txBox="1"/>
          <p:nvPr/>
        </p:nvSpPr>
        <p:spPr>
          <a:xfrm>
            <a:off x="0" y="4823221"/>
            <a:ext cx="5047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Fig 11: Evidence for ransomware and files with .locked extension.</a:t>
            </a:r>
            <a:endParaRPr lang="en-A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866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51CDCE-0BE6-DAC9-2174-7E616E891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DD2D6C4-36DB-EC2E-4726-E18AD8D70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444" y="1516600"/>
            <a:ext cx="4377874" cy="23060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26081E-60B1-8E7C-4027-AE356E47F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7" y="114377"/>
            <a:ext cx="4315338" cy="230870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7710" y="0"/>
            <a:ext cx="68580" cy="5143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37460"/>
            <a:ext cx="4594860" cy="685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2C7606-61B5-84DA-CD8E-4791162CC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82" y="2651182"/>
            <a:ext cx="4197518" cy="20289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C7C2069-A2A1-33B3-6BBA-9585EA4492B4}"/>
              </a:ext>
            </a:extLst>
          </p:cNvPr>
          <p:cNvSpPr txBox="1"/>
          <p:nvPr/>
        </p:nvSpPr>
        <p:spPr>
          <a:xfrm>
            <a:off x="-52644" y="4705957"/>
            <a:ext cx="4594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Fig 12 and 13 : Files are restored successfully in ubuntu </a:t>
            </a:r>
            <a:endParaRPr lang="en-A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B0BB69-13AE-5F6C-41CD-5EE985447709}"/>
              </a:ext>
            </a:extLst>
          </p:cNvPr>
          <p:cNvSpPr txBox="1"/>
          <p:nvPr/>
        </p:nvSpPr>
        <p:spPr>
          <a:xfrm>
            <a:off x="4696444" y="3848099"/>
            <a:ext cx="4447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Fig 14: Creating a hash value and comparing the file integrity which was found to be passed.</a:t>
            </a:r>
            <a:endParaRPr lang="en-A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437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390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0455C4-DC83-0026-9F3F-4F7B362FF9C4}"/>
              </a:ext>
            </a:extLst>
          </p:cNvPr>
          <p:cNvSpPr txBox="1"/>
          <p:nvPr/>
        </p:nvSpPr>
        <p:spPr>
          <a:xfrm>
            <a:off x="4950062" y="3357092"/>
            <a:ext cx="3604497" cy="9728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THANK YOU </a:t>
            </a:r>
          </a:p>
        </p:txBody>
      </p:sp>
      <p:pic>
        <p:nvPicPr>
          <p:cNvPr id="7" name="Graphic 6" descr="Spring flowers with a butterfly and dragonfly">
            <a:extLst>
              <a:ext uri="{FF2B5EF4-FFF2-40B4-BE49-F238E27FC236}">
                <a16:creationId xmlns:a16="http://schemas.microsoft.com/office/drawing/2014/main" id="{F8C7FA71-4D42-8B3F-EDC2-9FF4B3CE4A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-443148" y="270660"/>
            <a:ext cx="4623836" cy="4623836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4482"/>
            <a:ext cx="4679005" cy="5147982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8" name="Graphic 27" descr="Smiling Face with No Fill">
            <a:extLst>
              <a:ext uri="{FF2B5EF4-FFF2-40B4-BE49-F238E27FC236}">
                <a16:creationId xmlns:a16="http://schemas.microsoft.com/office/drawing/2014/main" id="{F839BA3B-F7B6-7D91-D9B1-D4B3E54957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3207" y="371859"/>
            <a:ext cx="2613375" cy="261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28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1711</Words>
  <Application>Microsoft Office PowerPoint</Application>
  <PresentationFormat>On-screen Show (16:9)</PresentationFormat>
  <Paragraphs>300</Paragraphs>
  <Slides>18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Ransomware Simulation and Recovery Strategies for Small Businesses</dc:title>
  <dc:subject>PptxGenJS Presentation</dc:subject>
  <dc:creator>PptxGenJS</dc:creator>
  <cp:lastModifiedBy>Ajit Subedi</cp:lastModifiedBy>
  <cp:revision>4</cp:revision>
  <dcterms:created xsi:type="dcterms:W3CDTF">2026-05-03T01:42:47Z</dcterms:created>
  <dcterms:modified xsi:type="dcterms:W3CDTF">2026-05-25T02:29:20Z</dcterms:modified>
</cp:coreProperties>
</file>